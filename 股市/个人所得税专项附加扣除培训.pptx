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100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个人所得税 &amp; 专项附加扣除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FD7EC"/>
                </a:solidFill>
                <a:latin typeface="Microsoft YaHei"/>
              </a:defRPr>
            </a:pPr>
            <a:r>
              <a:t>员工培训手册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B5D5"/>
                </a:solidFill>
                <a:latin typeface="Microsoft YaHei"/>
              </a:defRPr>
            </a:pPr>
            <a:r>
              <a:rPr dirty="0" err="1"/>
              <a:t>财务部</a:t>
            </a:r>
            <a:r>
              <a:rPr dirty="0"/>
              <a:t>  |  202</a:t>
            </a:r>
            <a:r>
              <a:rPr lang="en-US" dirty="0"/>
              <a:t>6</a:t>
            </a:r>
            <a:r>
              <a:rPr dirty="0"/>
              <a:t>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B5D5"/>
                </a:solidFill>
                <a:latin typeface="Microsoft YaHei"/>
              </a:defRPr>
            </a:pPr>
            <a:r>
              <a:t>依法纳税 / 应享尽享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个人所得税基本概念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什么是个人所得税、纳税义务人、征税范围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应税所得项目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9类应税所得详解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综合所得计算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计算公式、预扣预缴、汇算清缴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37160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098280" y="15544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税率表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1945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综合所得、经营所得、分类所得税率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69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专项附加扣除总览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7项扣除政策全景图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88620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20440" y="40690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2044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069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各扣除项目详解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条件、标准、操作要点逐一说明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88620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09360" y="40690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069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申报操作指引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个人所得税APP操作流程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388620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098280" y="40690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9828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4069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常见问题 &amp; 案例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高频问答与实用案例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个人所得税基本概念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7EC"/>
                </a:solidFill>
                <a:latin typeface="Microsoft YaHei"/>
              </a:defRPr>
            </a:pPr>
            <a:r>
              <a:t>Individual Income Tax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什么是个人所得税？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个人所得税（简称个税）是国家对个人取得的各项应税所得征收的一种直接税</a:t>
            </a:r>
          </a:p>
          <a:p>
            <a:pPr>
              <a:spcAft>
                <a:spcPts val="100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2000" b="1">
                <a:solidFill>
                  <a:srgbClr val="2C5F8A"/>
                </a:solidFill>
                <a:latin typeface="Microsoft YaHei"/>
              </a:defRPr>
            </a:pPr>
            <a:r>
              <a:t>纳税义务人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居民个人：在中国境内有住所，或无住所但在境内居住累计满183天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     -&gt; 境内外全部所得均须纳税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非居民个人：在中国境内无住所又不居住，或无住所而居住不满183天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     -&gt; 仅就境内所得纳税</a:t>
            </a:r>
          </a:p>
          <a:p>
            <a:pPr>
              <a:spcAft>
                <a:spcPts val="100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2000" b="1">
                <a:solidFill>
                  <a:srgbClr val="2C5F8A"/>
                </a:solidFill>
                <a:latin typeface="Microsoft YaHei"/>
              </a:defRPr>
            </a:pPr>
            <a:r>
              <a:t>计税周期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综合所得：按纳税年度合并计算 (1月1日-12月31日)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经营所得：按纳税年度计算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其他分类所得：按次计算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应税所得项目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7EC"/>
                </a:solidFill>
                <a:latin typeface="Microsoft YaHei"/>
              </a:defRPr>
            </a:pPr>
            <a:r>
              <a:t>9类应税所得详解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个人所得税应税所得项目（共9类）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1554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工资薪金所得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个人因任职受雇取得的工资、奖金、津贴、补贴等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71600"/>
            <a:ext cx="3474720" cy="1554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97680" y="150876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劳务报酬所得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个人从事劳务取得的所得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474720" cy="1554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01000" y="1508760"/>
            <a:ext cx="411480" cy="4114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稿酬所得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个人作品以图书、报刊等形式出版发表取得的所得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3474720" cy="1554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324612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46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特许权使用费所得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49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个人提供专利权、商标权等特许权使用权取得的所得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108960"/>
            <a:ext cx="3474720" cy="1554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297680" y="3246120"/>
            <a:ext cx="411480" cy="4114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246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经营所得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49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个体工商户、个人独资企业等生产经营所得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108960"/>
            <a:ext cx="3474720" cy="1554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001000" y="324612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0100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246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利息股息红利所得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749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利息、股息、红利收入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46320"/>
            <a:ext cx="3474720" cy="1554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4360" y="4983480"/>
            <a:ext cx="411480" cy="4114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4983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983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财产租赁所得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86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出租不动产、动产取得的所得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4846320"/>
            <a:ext cx="3474720" cy="1554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297680" y="498348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0" y="4983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983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财产转让所得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486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转让有价证券、股权、财产等所得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0" y="4846320"/>
            <a:ext cx="3474720" cy="1554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001000" y="4983480"/>
            <a:ext cx="411480" cy="4114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01000" y="4983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983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偶然所得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486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中奖、中彩等偶然性所得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  <a:latin typeface="Microsoft YaHei"/>
              </a:defRPr>
            </a:pPr>
            <a:r>
              <a:t>前4项（工资薪金、劳务报酬、稿酬、特许权使用费）合称为综合所得，按年合并计税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综合所得计算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7EC"/>
                </a:solidFill>
                <a:latin typeface="Microsoft YaHei"/>
              </a:defRPr>
            </a:pPr>
            <a:r>
              <a:t>Calculation &amp; Annual Settlement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综合所得应纳税额计算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C5F8A"/>
                </a:solidFill>
                <a:latin typeface="Microsoft YaHei"/>
              </a:defRPr>
            </a:pPr>
            <a:r>
              <a:t>计算公式</a:t>
            </a:r>
          </a:p>
          <a:p>
            <a:pPr>
              <a:spcAft>
                <a:spcPts val="10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2000" b="1">
                <a:solidFill>
                  <a:srgbClr val="C0392B"/>
                </a:solidFill>
                <a:latin typeface="Microsoft YaHei"/>
              </a:defRPr>
            </a:pPr>
            <a:r>
              <a:t>应纳税额 = 应纳税所得额 * 适用税率 - 速算扣除数</a:t>
            </a:r>
          </a:p>
          <a:p>
            <a:pPr>
              <a:spcAft>
                <a:spcPts val="10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2000" b="1">
                <a:solidFill>
                  <a:srgbClr val="2C5F8A"/>
                </a:solidFill>
                <a:latin typeface="Microsoft YaHei"/>
              </a:defRPr>
            </a:pPr>
            <a:r>
              <a:t>应纳税所得额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  <a:latin typeface="Microsoft YaHei"/>
              </a:defRPr>
            </a:pPr>
            <a:r>
              <a:t>应纳税所得额 = 全年收入额 - 60,000(基本减除) - 专项扣除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  <a:latin typeface="Microsoft YaHei"/>
              </a:defRPr>
            </a:pPr>
            <a:r>
              <a:t>           - 专项附加扣除 - 其他扣除</a:t>
            </a:r>
          </a:p>
          <a:p>
            <a:pPr>
              <a:spcAft>
                <a:spcPts val="10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1800" b="1">
                <a:solidFill>
                  <a:srgbClr val="3A7CBD"/>
                </a:solidFill>
                <a:latin typeface="Microsoft YaHei"/>
              </a:defRPr>
            </a:pPr>
            <a:r>
              <a:t>名词解释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专项扣除：三险一金（基本养老、医疗、失业 + 住房公积金）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专项附加扣除：子女教育、继续教育、大病医疗、住房贷款利息、住房租金、赡养老人、婴幼儿照护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基本减除费用：每人每年 60,000 元（每月 5,000 元）</a:t>
            </a:r>
          </a:p>
          <a:p>
            <a:pPr>
              <a:spcAft>
                <a:spcPts val="10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1800" b="1">
                <a:solidFill>
                  <a:srgbClr val="3A7CBD"/>
                </a:solidFill>
                <a:latin typeface="Microsoft YaHei"/>
              </a:defRPr>
            </a:pPr>
            <a:r>
              <a:t>预扣预缴 vs 汇算清缴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月度预扣预缴：单位每月按累计预扣法计算并代扣代缴</a:t>
            </a:r>
          </a:p>
          <a:p>
            <a:pPr>
              <a:spcAft>
                <a:spcPts val="10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   * 年度汇算清缴：次年 3月-6月 进行综合所得年度汇算，多退少补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税率表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7EC"/>
                </a:solidFill>
                <a:latin typeface="Microsoft YaHei"/>
              </a:defRPr>
            </a:pPr>
            <a:r>
              <a:t>Tax Rate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综合所得个人所得税税率表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7EC"/>
                </a:solidFill>
                <a:latin typeface="Microsoft YaHei"/>
              </a:defRPr>
            </a:pPr>
            <a:r>
              <a:t>适用于居民个人工资薪金、劳务报酬、稿酬、特许权使用费所得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级数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全年应纳税所得额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税率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速算扣除数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不超过 36,000 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超过 36,000 元至 144,000 元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2,520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超过 144,000 元至 300,000 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16,920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超过 300,000 元至 420,000 元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31,920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超过 420,000 元至 660,000 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52,920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超过 660,000 元至 960,000 元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85,920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超过 960,000 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181,920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应纳税额 = 应纳税所得额 * 税率 - 速算扣除数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专项附加扣除总览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7EC"/>
                </a:solidFill>
                <a:latin typeface="Microsoft YaHei"/>
              </a:defRPr>
            </a:pPr>
            <a:r>
              <a:t>7项扣除政策全景图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7 项专项附加扣除 - 政策速览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7EC"/>
                </a:solidFill>
                <a:latin typeface="Microsoft YaHei"/>
              </a:defRPr>
            </a:pPr>
            <a:r>
              <a:t>每人可在 60,000 基本减除 + 三险一金之外，再叠加扣除以下项目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子女教育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每个子女每月2,000元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学前教育至全日制学历教育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6517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7472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继续教育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488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学历每月400元/证书3,600元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境内学历/职业资格继续教育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6517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0936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大病医疗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488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超15,000部分限80,000/年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医保目录范围内自付部分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371600"/>
            <a:ext cx="26517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住房贷款利息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1488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每月1,000元最长240个月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首套住房贷款利息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26517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住房租金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800/1,100/1,500元/月三档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按城市分三档标准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4023360"/>
            <a:ext cx="26517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474720" y="420624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赡养老人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8006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每月3,000元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年满60周岁父母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023360"/>
            <a:ext cx="26517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09360" y="420624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婴幼儿照护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006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每个婴幼儿每月2,000元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0-3岁婴幼儿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各扣除项目详解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7EC"/>
                </a:solidFill>
                <a:latin typeface="Microsoft YaHei"/>
              </a:defRPr>
            </a:pPr>
            <a:r>
              <a:t>逐项说明扣除条件、标准和操作要点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子女教育 &amp; 继续教育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子女教育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扣除标准：每个子女每月 2,000 元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覆盖阶段：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学前教育（年满3周岁至小学入学前）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全日制学历教育（小学、初中、高中、大学等）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分配方式（父母可选）：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一方按 100% 扣除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双方各按 50% 扣除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所需材料：子女身份信息、就读证明（备查）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境外教育：需提供境外学校录取通知书、留学签证等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继续教育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扣除标准：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学历（学位）继续教育：每月 400 元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     同一学历最长扣除 48 个月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职业资格继续教育：取得证书年度 3,600 元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     技能人员/专业技术人员职业资格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注意事项：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境内继续教育方可扣除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同时参加学历+职业资格，两项可叠加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* 个人接受本科及以下学历继续教育，可选择由父母或本人扣除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所需材料：学籍信息、职业资格证书信息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大病医疗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大病医疗专项附加扣除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扣除标准：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在一个纳税年度内，纳税人发生的与基本医保相关的医药费用支出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扣除医保报销后个人负担（医保目录范围内的自付部分）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  累计超过 15,000 元的部分，可在 80,000 元限额内据实扣除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扣除方式：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本人医药费用：本人或配偶扣除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未成年子女医药费用：父母一方扣除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配偶医药费用：本人或配偶自扣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特别说明：大病医疗只能在次年汇算清缴时申报，不能按月预扣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操作流程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Step 1: 查询大病医疗金额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 * 下载国家医保服务平台APP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 * 首页 -&gt; 年度费用汇总查询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Step 2: 在个税APP中填报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 * 登录个人所得税APP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 * 专项附加扣除填报 -&gt; 大病医疗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 * 填写医疗费用总金额、个人负担金额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Step 3: 汇算清缴时扣除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 * 大病医疗只能在次年3-6月年度汇算时申报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3A7CBD"/>
                </a:solidFill>
                <a:latin typeface="Microsoft YaHei"/>
              </a:defRPr>
            </a:pPr>
            <a:r>
              <a:t>医保查询电话：12393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住房贷款利息 &amp; 住房租金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注意：两者不可同时享受，需根据实际情况二选一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住房贷款利息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扣除标准：每月 1,000 元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最长扣除期限：240 个月（20年）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适用条件：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本人或配偶使用商业贷款或公积金贷款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购买首套住房（享受首套住房贷款利率）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扣除方式：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夫妻婚前各自购房：可选一套由一方100%扣或各自扣50%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婚后共同购房：经约定后一方100%扣除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所需材料：住房贷款合同、贷款还款支出凭证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住房租金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扣除标准（按城市分三档）：</a:t>
            </a:r>
          </a:p>
          <a:p>
            <a:pPr algn="l">
              <a:spcAft>
                <a:spcPts val="600"/>
              </a:spcAft>
              <a:defRPr sz="2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500" b="1">
                <a:solidFill>
                  <a:srgbClr val="C0392B"/>
                </a:solidFill>
                <a:latin typeface="Microsoft YaHei"/>
              </a:defRPr>
            </a:pPr>
            <a:r>
              <a:t>  直辖市/省会/计划单列市：1,500 元/月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C5F8A"/>
                </a:solidFill>
                <a:latin typeface="Microsoft YaHei"/>
              </a:defRPr>
            </a:pPr>
            <a:r>
              <a:t>  人口大于100万的城市：1,100 元/月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A7CBD"/>
                </a:solidFill>
                <a:latin typeface="Microsoft YaHei"/>
              </a:defRPr>
            </a:pPr>
            <a:r>
              <a:t>  人口不超过100万的城市：800 元/月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适用条件：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在主要工作城市没有自有住房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夫妻同一城市只能一方扣除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夫妻不同城市且均无房，可各自扣除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注意：住房租金与住房贷款利息不可同时享受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所需材料：住房租赁合同、租金支付凭证（备查）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赡养老人 &amp; 婴幼儿照护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赡养老人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扣除标准：每月 3,000 元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适用条件：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赡养年满60周岁的父母（生父母/继父母/养父母）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  * 子女均已去世的祖父母、外祖父母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分摊方式（非独生子女）：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平均分摊：兄弟姐妹均分3,000元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约定分摊：自行约定比例，每人不超过1,500元/月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指定分摊：由老人指定，每人不超过1,500元/月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400" b="1">
                <a:solidFill>
                  <a:srgbClr val="2C5F8A"/>
                </a:solidFill>
                <a:latin typeface="Microsoft YaHei"/>
              </a:defRPr>
            </a:pPr>
            <a:r>
              <a:t>独生子女：可直接按 3,000 元/月全额扣除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所需材料：无需额外材料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婴幼儿照护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扣除标准：每个婴幼儿每月 2,000 元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适用条件：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照顾 0-3 周岁（含3周岁）的婴幼儿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  * 自2023年1月1日起实施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扣除方式（父母可选）：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一方按 100% 全额扣除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双方各按 50% 扣除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注意事项：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与子女教育扣除有衔接，满3周岁后转入子女教育扣除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* 多胞胎的每个婴幼儿均可单独享受扣除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所需材料：子女身份信息（出生医学证明等）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填报注意事项（划重点）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C5F8A"/>
                </a:solidFill>
                <a:latin typeface="Microsoft YaHei"/>
              </a:defRPr>
            </a:pPr>
            <a:r>
              <a:t>1. 信息真实性：专项附加扣除实行申报即享受，但税务机关会事后抽查</a:t>
            </a:r>
          </a:p>
          <a:p>
            <a:pPr>
              <a:spcAft>
                <a:spcPts val="10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* 虚报将影响个人信用记录，并需补缴税款及滞纳金</a:t>
            </a:r>
          </a:p>
          <a:p>
            <a:pPr>
              <a:spcAft>
                <a:spcPts val="10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1700" b="1">
                <a:solidFill>
                  <a:srgbClr val="2C5F8A"/>
                </a:solidFill>
                <a:latin typeface="Microsoft YaHei"/>
              </a:defRPr>
            </a:pPr>
            <a:r>
              <a:t>2. 及时更新变动信息</a:t>
            </a:r>
          </a:p>
          <a:p>
            <a:pPr>
              <a:spcAft>
                <a:spcPts val="10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* 子女教育阶段变化、住房租赁合同到期、赡养老人身份变化等应及时在APP中修改</a:t>
            </a:r>
          </a:p>
          <a:p>
            <a:pPr>
              <a:spcAft>
                <a:spcPts val="10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* 每年12月需确认次年扣除信息</a:t>
            </a:r>
          </a:p>
          <a:p>
            <a:pPr>
              <a:spcAft>
                <a:spcPts val="10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1700" b="1">
                <a:solidFill>
                  <a:srgbClr val="2C5F8A"/>
                </a:solidFill>
                <a:latin typeface="Microsoft YaHei"/>
              </a:defRPr>
            </a:pPr>
            <a:r>
              <a:t>3. 不可兼得项</a:t>
            </a:r>
          </a:p>
          <a:p>
            <a:pPr>
              <a:spcAft>
                <a:spcPts val="10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* 住房贷款利息 vs 住房租金：只能选一项</a:t>
            </a:r>
          </a:p>
          <a:p>
            <a:pPr>
              <a:spcAft>
                <a:spcPts val="10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* 同一子女的教育扣除，父母合计不超过 2,000 元/月</a:t>
            </a:r>
          </a:p>
          <a:p>
            <a:pPr>
              <a:spcAft>
                <a:spcPts val="10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1700" b="1">
                <a:solidFill>
                  <a:srgbClr val="2C5F8A"/>
                </a:solidFill>
                <a:latin typeface="Microsoft YaHei"/>
              </a:defRPr>
            </a:pPr>
            <a:r>
              <a:t>4. 大病医疗特殊之处</a:t>
            </a:r>
          </a:p>
          <a:p>
            <a:pPr>
              <a:spcAft>
                <a:spcPts val="10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* 只能在次年汇算清缴时申报，不能按月预扣</a:t>
            </a:r>
          </a:p>
          <a:p>
            <a:pPr>
              <a:spcAft>
                <a:spcPts val="10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1000"/>
              </a:spcAft>
              <a:defRPr sz="1700" b="1">
                <a:solidFill>
                  <a:srgbClr val="2C5F8A"/>
                </a:solidFill>
                <a:latin typeface="Microsoft YaHei"/>
              </a:defRPr>
            </a:pPr>
            <a:r>
              <a:t>5. 证明资料留存备查</a:t>
            </a:r>
          </a:p>
          <a:p>
            <a:pPr>
              <a:spcAft>
                <a:spcPts val="10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* 相关证明材料应当留存 5 年备查</a:t>
            </a:r>
          </a:p>
          <a:p>
            <a:pPr>
              <a:spcAft>
                <a:spcPts val="10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  * 如：租房合同、房贷合同、继续教育证书、大病医疗票据等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申报操作指引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7EC"/>
                </a:solidFill>
                <a:latin typeface="Microsoft YaHei"/>
              </a:defRPr>
            </a:pPr>
            <a:r>
              <a:t>个人所得税APP操作流程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个人所得税 APP 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A7CBD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16459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下载注册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下载个人所得税APP</a:t>
            </a:r>
            <a:br/>
            <a:r>
              <a:t>使用手机号或身份证注册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A7CBD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0" name="Oval 9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登录完善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登录后完善个人信息</a:t>
            </a:r>
            <a:br/>
            <a:r>
              <a:t>添加任职受雇单位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A7CBD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5" name="Oval 14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填报扣除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432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首页 -&gt; 专项附加扣除填报</a:t>
            </a:r>
            <a:br/>
            <a:r>
              <a:t>选择对应项目逐项填写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A7CBD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16459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选择方式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7432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选择通过扣缴义务人申报</a:t>
            </a:r>
            <a:br/>
            <a:r>
              <a:t>（由单位每月预扣时扣除）</a:t>
            </a:r>
          </a:p>
        </p:txBody>
      </p:sp>
      <p:sp>
        <p:nvSpPr>
          <p:cNvPr id="24" name="Oval 23"/>
          <p:cNvSpPr/>
          <p:nvPr/>
        </p:nvSpPr>
        <p:spPr>
          <a:xfrm>
            <a:off x="10378440" y="16459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7844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汇算清缴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7432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次年3-6月 -&gt; 综合所得年度汇算</a:t>
            </a:r>
            <a:br/>
            <a:r>
              <a:t>确认信息 -&gt; 多退少补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关键提醒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* 选择通过扣缴义务人申报 -&gt; 单位每月预扣个税时直接扣除，减税效果及时</a:t>
            </a:r>
            <a:br/>
            <a:r>
              <a:t>* 选择年度自行申报 -&gt; 在次年汇算清缴时统一扣除</a:t>
            </a:r>
            <a:br/>
            <a:r>
              <a:t>* 建议选择前者，尽早享受减税红利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常见问题 &amp; 案例分析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7EC"/>
                </a:solidFill>
                <a:latin typeface="Microsoft YaHei"/>
              </a:defRPr>
            </a:pPr>
            <a:r>
              <a:t>FAQ &amp; Case Study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常见问题解答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Microsoft YaHei"/>
              </a:defRPr>
            </a:pPr>
            <a:r>
              <a:t>Q: 个税APP中通过扣缴义务人和自行申报有什么区别？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A: 前者由单位在每月发工资时直接扣除，减税立竿见影；后者需等到次年汇算清缴才一次性扣除，建议选前者。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Microsoft YaHei"/>
              </a:defRPr>
            </a:pPr>
            <a:r>
              <a:t>Q: 去年忘记填报专项附加扣除了，还能补吗？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A: 可以。在次年3-6月汇算清缴期间补充填报，系统会重新计算全年应纳税额，多缴的税款可以退还。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Microsoft YaHei"/>
              </a:defRPr>
            </a:pPr>
            <a:r>
              <a:t>Q: 夫妻双方都有收入，子女教育由谁扣除更划算？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A: 谁的税率高谁全额扣除更划算。税率高的一方每扣除1,000元省税更多；若双方税率相同，谁扣都一样。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Microsoft YaHei"/>
              </a:defRPr>
            </a:pPr>
            <a:r>
              <a:t>Q: 换了新单位，专项附加扣除怎么处理？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A: 登录个税APP -&gt; 专项附加扣除 -&gt; 修改申报方式 -&gt; 选择新任职单位即可。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Microsoft YaHei"/>
              </a:defRPr>
            </a:pPr>
            <a:r>
              <a:t>Q: 租房合同到期未续签，是否还能享受住房租金扣除？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A: 不能。没有租赁合同或实际租赁关系存续的，不得扣除。建议及时在APP中修改。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Microsoft YaHei"/>
              </a:defRPr>
            </a:pPr>
            <a:r>
              <a:t>Q: 父母年龄还差几个月满60周岁，能提前享受赡养老人扣除吗？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A: 不能。必须父母中至少有一位年满60周岁的当月起方可享受，不可提前扣除。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实用计算案例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案例：张先生年度个税计算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2C5F8A"/>
                </a:solidFill>
                <a:latin typeface="Microsoft YaHei"/>
              </a:defRPr>
            </a:pPr>
            <a:r>
              <a:t>基本情况：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张先生，独生子女，年薪300,000元（月薪25,000元），三险一金每月2,000元，有一个3岁半孩子在上幼儿园（选择100%扣除），每月房租3,500元（北京），父母均年满60周岁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年度专项附加扣除：子女教育24,000 + 住房租金18,000 + 赡养老人36,000 = 合计78,000元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0233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Microsoft YaHei"/>
              </a:defRPr>
            </a:pPr>
            <a:r>
              <a:t>计算过程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全年收入：300,000 元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基本减除费用：60,000 元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专项扣除（三险一金）：2,000 * 12 = 24,000 元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2C5F8A"/>
                </a:solidFill>
                <a:latin typeface="Microsoft YaHei"/>
              </a:defRPr>
            </a:pPr>
            <a:r>
              <a:t>专项附加扣除：24,000 + 18,000 + 36,000 = 78,000 元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应纳税所得额：300,000 - 60,000 - 24,000 - 78,000 = 138,000 元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查税率表：138,000 -&gt; 10% 税率，速算扣除数 2,520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应纳税额：138,000 * 10% - 2,520 = 11,280 元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若无专项附加扣除则为 22,680 元，节省 11,400 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39319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FD7EC"/>
                </a:solidFill>
                <a:latin typeface="Microsoft YaHei"/>
              </a:defRPr>
            </a:pPr>
            <a:r>
              <a:t>依法纳税是每个公民的义务</a:t>
            </a:r>
            <a:br/>
            <a:r>
              <a:t>充分享受政策红利是每个人的权利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B5D5"/>
                </a:solidFill>
                <a:latin typeface="Microsoft YaHei"/>
              </a:defRPr>
            </a:pPr>
            <a:r>
              <a:t>如有疑问请联系财务部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B5D5"/>
                </a:solidFill>
                <a:latin typeface="Microsoft YaHei"/>
              </a:defRPr>
            </a:pPr>
            <a:r>
              <a:t>个人所得税APP | 12366 纳税服务热线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1315</Words>
  <Application>Microsoft Office PowerPoint</Application>
  <PresentationFormat>宽屏</PresentationFormat>
  <Paragraphs>375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强 王</cp:lastModifiedBy>
  <cp:revision>2</cp:revision>
  <dcterms:created xsi:type="dcterms:W3CDTF">2013-01-27T09:14:16Z</dcterms:created>
  <dcterms:modified xsi:type="dcterms:W3CDTF">2026-06-05T09:36:59Z</dcterms:modified>
  <cp:category/>
</cp:coreProperties>
</file>